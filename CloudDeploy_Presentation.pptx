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49F"/>
                </a:solidFill>
                <a:latin typeface="Consolas"/>
              </a:defRPr>
            </a:pPr>
            <a:r>
              <a:t>ADVANCED CLOUD ARCHITECTURE · AWS AP-SOUTH-1</a:t>
            </a:r>
          </a:p>
          <a:p>
            <a:pPr>
              <a:spcBef>
                <a:spcPts val="800"/>
              </a:spcBef>
              <a:defRPr sz="5600" b="1">
                <a:solidFill>
                  <a:srgbClr val="F8FAFC"/>
                </a:solidFill>
                <a:latin typeface="Segoe UI"/>
              </a:defRPr>
            </a:pPr>
            <a:r>
              <a:t>CloudDeploy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  <a:latin typeface="Segoe UI"/>
              </a:defRPr>
            </a:pPr>
            <a:r>
              <a:t>AWS-Native Multi-Tenant Static Website Deployment Platform</a:t>
            </a:r>
          </a:p>
          <a:p>
            <a:pPr>
              <a:spcBef>
                <a:spcPts val="1200"/>
              </a:spcBef>
              <a:defRPr sz="1300">
                <a:solidFill>
                  <a:srgbClr val="FF9900"/>
                </a:solidFill>
                <a:latin typeface="Segoe UI"/>
              </a:defRPr>
            </a:pPr>
            <a:r>
              <a:t>Zero server-side execution, sub-second atomic rollbacks &amp; Origin Access Control.</a:t>
            </a:r>
          </a:p>
          <a:p>
            <a:pPr>
              <a:spcBef>
                <a:spcPts val="1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Itishree Nayak (240714100014) · Akriti Mishra (240714100019)</a:t>
            </a:r>
            <a:br/>
            <a:r>
              <a:t>Soumya Ranjan Rout (240714100069) · Atyusha Mohanty (240714100073)</a:t>
            </a:r>
            <a:br/>
            <a:r>
              <a:t>Santanu Barik (240714100076) · K Sohan Patro (240714100111)</a:t>
            </a:r>
          </a:p>
          <a:p>
            <a:pPr>
              <a:spcBef>
                <a:spcPts val="1400"/>
              </a:spcBef>
              <a:defRPr sz="1050">
                <a:solidFill>
                  <a:srgbClr val="00C49F"/>
                </a:solidFill>
                <a:latin typeface="Consolas"/>
              </a:defRPr>
            </a:pPr>
            <a:r>
              <a:t>AWS S3 · CloudFront OAC · Cognito · Spring Boot / FastAPI · React 18 · Tailwind · Docker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371600"/>
            <a:ext cx="39319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63040"/>
            <a:ext cx="374903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CONTENTS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Index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Twelve content slides, from problem foundation to production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048256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03   </a:t>
            </a:r>
            <a:r>
              <a:rPr sz="1200" b="1">
                <a:solidFill>
                  <a:srgbClr val="0F172A"/>
                </a:solidFill>
                <a:latin typeface="Segoe UI"/>
              </a:rPr>
              <a:t>Problem Statement &amp; Industry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96896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724912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88336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04   </a:t>
            </a:r>
            <a:r>
              <a:rPr sz="1200" b="1">
                <a:solidFill>
                  <a:srgbClr val="0F172A"/>
                </a:solidFill>
                <a:latin typeface="Segoe UI"/>
              </a:rPr>
              <a:t>Literature Review &amp; Comparative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401568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6499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05   </a:t>
            </a:r>
            <a:r>
              <a:rPr sz="1200" b="1">
                <a:solidFill>
                  <a:srgbClr val="0F172A"/>
                </a:solidFill>
                <a:latin typeface="Segoe UI"/>
              </a:rPr>
              <a:t>High-Performance System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50208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078224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4164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06 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Module 1 · Tenant Studio &amp; Project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26864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4754880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1830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07 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Module 2 · 14-Step Zip Ingestion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431536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08 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Module 3 · FinOps &amp; Real-Time Pricing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920240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2048256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09 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Module 4 · CloudFront OAC &amp; Zero-Trust Security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596896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724912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88336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10   </a:t>
            </a:r>
            <a:r>
              <a:rPr sz="1200" b="1">
                <a:solidFill>
                  <a:srgbClr val="0F172A"/>
                </a:solidFill>
                <a:latin typeface="Segoe UI"/>
              </a:rPr>
              <a:t>Module 5 · Sub-Second Atomic Rollback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273552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3401568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36499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11   </a:t>
            </a:r>
            <a:r>
              <a:rPr sz="1200" b="1">
                <a:solidFill>
                  <a:srgbClr val="0F172A"/>
                </a:solidFill>
                <a:latin typeface="Segoe UI"/>
              </a:rPr>
              <a:t>AWS Production Infrastructure &amp; SRE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950208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4078224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04164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12   </a:t>
            </a:r>
            <a:r>
              <a:rPr sz="1200" b="1">
                <a:solidFill>
                  <a:srgbClr val="0F172A"/>
                </a:solidFill>
                <a:latin typeface="Segoe UI"/>
              </a:rPr>
              <a:t>Step-by-Step Live Demo Walkthrough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626864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6208" y="4754880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718304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13   </a:t>
            </a:r>
            <a:r>
              <a:rPr sz="1200" b="1">
                <a:solidFill>
                  <a:srgbClr val="0F172A"/>
                </a:solidFill>
                <a:latin typeface="Segoe UI"/>
              </a:rPr>
              <a:t>Business Impact &amp; Technical Defense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303520"/>
            <a:ext cx="51206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5431536"/>
            <a:ext cx="54864" cy="329184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6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C49F"/>
                </a:solidFill>
                <a:latin typeface="Consolas"/>
              </a:rPr>
              <a:t>14   </a:t>
            </a:r>
            <a:r>
              <a:rPr sz="1200" b="1">
                <a:solidFill>
                  <a:srgbClr val="0F172A"/>
                </a:solidFill>
                <a:latin typeface="Segoe UI"/>
              </a:rPr>
              <a:t>Project Summary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Static Web Deployment Bottleneck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Three foundational flaws in existing cloud deployment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C49F"/>
                </a:solidFill>
                <a:latin typeface="Consolas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  <a:latin typeface="Segoe UI"/>
              </a:defRPr>
            </a:pPr>
            <a:r>
              <a:t>Severe Cost Overhead &amp; Vendor Lock-In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Commercial platforms charge $20-$100/mo for basic team seats and slap 300%+ markups over raw AWS bandwidth, penalizing growing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C49F"/>
                </a:solidFill>
                <a:latin typeface="Consolas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  <a:latin typeface="Segoe UI"/>
              </a:defRPr>
            </a:pPr>
            <a:r>
              <a:t>Public Bucket Leaks &amp; OAI Deprecation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Legacy setups rely on vulnerable public S3 website endpoints or deprecated Origin Access Identity (OAI), exposing raw object stores to open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C49F"/>
                </a:solidFill>
                <a:latin typeface="Consolas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  <a:latin typeface="Segoe UI"/>
              </a:defRPr>
            </a:pPr>
            <a:r>
              <a:t>Destructive Overwrite Deployments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Traditional FTP or manual S3 syncing mutates objects in-place without version isolation, causing broken assets, 404 caching cascades, and slow recovery.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C49F"/>
                </a:solidFill>
                <a:latin typeface="Segoe UI"/>
              </a:defRPr>
            </a:pPr>
            <a:r>
              <a:t>CloudDeploy eliminates all three with zero-server execution, SigV4 Origin Access Control, and sub-second atomic pointer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LITERATURE REVIEW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Comparative Engineering Benchmarks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Evaluating deployment paradigms across commercial SaaS, manual AWS, and CloudDeploy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04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Architectural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Vercel / Netlify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AWS S3 Static Web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Traditional VPS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CloudDeploy (Ours)</a:t>
                      </a:r>
                    </a:p>
                  </a:txBody>
                  <a:tcPr>
                    <a:solidFill>
                      <a:srgbClr val="008C7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Execution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Serverless / Node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Serverless Object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Dedicated Virtual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Zero-Server Pure Edge (OAC)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Access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Proprietary Edge Shield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 Read Bucket Policy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Firewall / SSH Port Open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Private S3 + CloudFront SigV4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Rollback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30-90 s (Trigger Rebuild)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Destructive (Re-upload 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Minutes (Git pull/build)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&lt; 850 ms (Pointer Redirect)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FinOps Pricing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Aggressive Tier Markups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Raw AWS Rate (No UI)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Fixed Idle Server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Live AWS Cost Engine ($ &amp; INR)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Atomic Versioning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Git Commit 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 (Direct In-Place)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Directory Swapping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UUID Prefix Namespacing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Operational Burden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Low (Black Box)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(Console Manual)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(Sysadmin/Updates)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5F46"/>
                          </a:solidFill>
                          <a:latin typeface="Segoe UI"/>
                        </a:defRPr>
                      </a:pPr>
                      <a:r>
                        <a:t>Zero (Autonomous Pipeline)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Grounded in: AWS Well-Architected Framework · CIS AWS Foundations v3.0 · NIST SP 800-207 (Zero Trust) · FinOps Foundation Specification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PLATFORM ARCHITECTURE · 3-TIER WITH MULTI-TENANT ISOLATION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High-Performance Cloud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Edge-optimized delivery plane paired with autonomous orchestration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onsolas"/>
              </a:defRPr>
            </a:pPr>
            <a: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0C49F"/>
                </a:solidFill>
                <a:latin typeface="Segoe UI"/>
              </a:rPr>
              <a:t>Client Tier: </a:t>
            </a:r>
            <a:r>
              <a:rPr sz="1200">
                <a:solidFill>
                  <a:srgbClr val="CBD5E1"/>
                </a:solidFill>
                <a:latin typeface="Segoe UI"/>
              </a:rPr>
              <a:t>React 18 + Tailwind CSS single page console with Lucide icons, SSE event stream listeners, and 0.5 s client zip verification.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00C49F"/>
                </a:solidFill>
                <a:latin typeface="Segoe UI"/>
              </a:rPr>
              <a:t>Gateway Tier: </a:t>
            </a:r>
            <a:r>
              <a:rPr sz="1200">
                <a:solidFill>
                  <a:srgbClr val="CBD5E1"/>
                </a:solidFill>
                <a:latin typeface="Segoe UI"/>
              </a:rPr>
              <a:t>NGINX 1.25+ reverse proxy enforcing Let's Encrypt TLS 1.3, rate-limiting, and 50 MB streaming zip buffers with zero disk leak.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00C49F"/>
                </a:solidFill>
                <a:latin typeface="Segoe UI"/>
              </a:rPr>
              <a:t>Core Backend: </a:t>
            </a:r>
            <a:r>
              <a:rPr sz="1200">
                <a:solidFill>
                  <a:srgbClr val="CBD5E1"/>
                </a:solidFill>
                <a:latin typeface="Segoe UI"/>
              </a:rPr>
              <a:t>Spring Boot / FastAPI asynchronous control plane with JPA repository isolation, connection pooling, and multi-tenant quotas.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00C49F"/>
                </a:solidFill>
                <a:latin typeface="Segoe UI"/>
              </a:rPr>
              <a:t>Storage Tier: </a:t>
            </a:r>
            <a:r>
              <a:rPr sz="1200">
                <a:solidFill>
                  <a:srgbClr val="CBD5E1"/>
                </a:solidFill>
                <a:latin typeface="Segoe UI"/>
              </a:rPr>
              <a:t>Amazon S3 dual-bucket partition: private upload intake vault and immutable prefix namespaced production hosting bucket.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00C49F"/>
                </a:solidFill>
                <a:latin typeface="Segoe UI"/>
              </a:rPr>
              <a:t>Edge Plane: </a:t>
            </a:r>
            <a:r>
              <a:rPr sz="1200">
                <a:solidFill>
                  <a:srgbClr val="CBD5E1"/>
                </a:solidFill>
                <a:latin typeface="Segoe UI"/>
              </a:rPr>
              <a:t>Amazon CloudFront Global CDN terminating HTTPS, executing OAC SigV4 signed requests, and sub-second TTL cache invalidation.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system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48463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MODULE 1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Tenant Console &amp; Project Management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Centralized management hub for multi-tenant static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Multi-Project Organization: </a:t>
            </a:r>
            <a:r>
              <a:rPr sz="1300">
                <a:solidFill>
                  <a:srgbClr val="64748B"/>
                </a:solidFill>
                <a:latin typeface="Segoe UI"/>
              </a:rPr>
              <a:t>Independent namespace isolation per application with custom slugs, environment tags, and deployment counters.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One-Click Provisioning: </a:t>
            </a:r>
            <a:r>
              <a:rPr sz="1300">
                <a:solidFill>
                  <a:srgbClr val="64748B"/>
                </a:solidFill>
                <a:latin typeface="Segoe UI"/>
              </a:rPr>
              <a:t>Instant site scaffolding linked to isolated S3 sub-paths without cloud infrastructure friction.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Real-Time Telemetry: </a:t>
            </a:r>
            <a:r>
              <a:rPr sz="1300">
                <a:solidFill>
                  <a:srgbClr val="64748B"/>
                </a:solidFill>
                <a:latin typeface="Segoe UI"/>
              </a:rPr>
              <a:t>Live build metrics, deployment duration tracking, and instant production health status indicators.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Granular Tenant Quotas: </a:t>
            </a:r>
            <a:r>
              <a:rPr sz="1300">
                <a:solidFill>
                  <a:srgbClr val="64748B"/>
                </a:solidFill>
                <a:latin typeface="Segoe UI"/>
              </a:rPr>
              <a:t>Configurable limits on total sites, storage allocations, and monthly bandwidth caps per tenant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8_projects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MODULE 2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14-Step Zip Ingestion Pipeline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Automated, memory-buffered extraction and recursive S3 object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Client-Side Zip Inspection: </a:t>
            </a:r>
            <a:r>
              <a:rPr sz="1300">
                <a:solidFill>
                  <a:srgbClr val="64748B"/>
                </a:solidFill>
                <a:latin typeface="Segoe UI"/>
              </a:rPr>
              <a:t>Validates archive structure, entry point (`index.html`), and malicious directory traversal patterns prior to transmission.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Streaming Buffer Unzipping: </a:t>
            </a:r>
            <a:r>
              <a:rPr sz="1300">
                <a:solidFill>
                  <a:srgbClr val="64748B"/>
                </a:solidFill>
                <a:latin typeface="Segoe UI"/>
              </a:rPr>
              <a:t>Memory-buffered chunk parsing prevents disk-space saturation and executes concurrent uploads to Amazon S3.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MIME-Type Resolution: </a:t>
            </a:r>
            <a:r>
              <a:rPr sz="1300">
                <a:solidFill>
                  <a:srgbClr val="64748B"/>
                </a:solidFill>
                <a:latin typeface="Segoe UI"/>
              </a:rPr>
              <a:t>Precise heuristic mapping across 40+ web extensions ensuring accurate `Content-Type` headers for browsers.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Real-Time Build Feedback: </a:t>
            </a:r>
            <a:r>
              <a:rPr sz="1300">
                <a:solidFill>
                  <a:srgbClr val="64748B"/>
                </a:solidFill>
                <a:latin typeface="Segoe UI"/>
              </a:rPr>
              <a:t>Server-Sent Events (SSE) stream terminal progress step-by-step straight to the user interface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0_upload_deplo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MODULE 3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FinOps &amp; Interactive Cost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Service-level cost estimation aligned with real-time AWS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Granular AWS Pricing Models: </a:t>
            </a:r>
            <a:r>
              <a:rPr sz="1300">
                <a:solidFill>
                  <a:srgbClr val="64748B"/>
                </a:solidFill>
                <a:latin typeface="Segoe UI"/>
              </a:rPr>
              <a:t>Accurately calculates S3 Standard storage ($0.023/GB), CloudFront data egress ($0.085/GB), and Route 53 queries.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Dual Currency Projection: </a:t>
            </a:r>
            <a:r>
              <a:rPr sz="1300">
                <a:solidFill>
                  <a:srgbClr val="64748B"/>
                </a:solidFill>
                <a:latin typeface="Segoe UI"/>
              </a:rPr>
              <a:t>Instant toggle between USD ($) and INR (₹) at live exchange rates tailored for AWS Mumbai (ap-south-1).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Interactive Traffic Sliders: </a:t>
            </a:r>
            <a:r>
              <a:rPr sz="1300">
                <a:solidFill>
                  <a:srgbClr val="64748B"/>
                </a:solidFill>
                <a:latin typeface="Segoe UI"/>
              </a:rPr>
              <a:t>Simulate monthly visitor surges from 1,000 to 10,000,000 requests to forecast cloud infrastructure spend.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Tier Comparison Engine: </a:t>
            </a:r>
            <a:r>
              <a:rPr sz="1300">
                <a:solidFill>
                  <a:srgbClr val="64748B"/>
                </a:solidFill>
                <a:latin typeface="Segoe UI"/>
              </a:rPr>
              <a:t>Side-by-side economic analysis proving 70-85% cost savings compared to traditional commercial SaaS vendors.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_pricing_fin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MODULE 4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CloudFront OAC &amp; Zero-Trust Security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Enforcing strict origin protection and eliminating public bucket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Origin Access Control (OAC): </a:t>
            </a:r>
            <a:r>
              <a:rPr sz="1300">
                <a:solidFill>
                  <a:srgbClr val="64748B"/>
                </a:solidFill>
                <a:latin typeface="Segoe UI"/>
              </a:rPr>
              <a:t>Implements AWS SigV4 cryptographic signing between CloudFront and S3, completely closing public internet bucket ingress.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Automated IAM Least Privilege: </a:t>
            </a:r>
            <a:r>
              <a:rPr sz="1300">
                <a:solidFill>
                  <a:srgbClr val="64748B"/>
                </a:solidFill>
                <a:latin typeface="Segoe UI"/>
              </a:rPr>
              <a:t>Generates mathematically constrained S3 bucket policies permitting reads exclusively from the specific CloudFront ARN.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Amazon Cognito Authentication: </a:t>
            </a:r>
            <a:r>
              <a:rPr sz="1300">
                <a:solidFill>
                  <a:srgbClr val="64748B"/>
                </a:solidFill>
                <a:latin typeface="Segoe UI"/>
              </a:rPr>
              <a:t>JWT bearer token verification, SRP secure password transmission, and role-based access control (USER / ADMIN).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Compliance Audit Ready: </a:t>
            </a:r>
            <a:r>
              <a:rPr sz="1300">
                <a:solidFill>
                  <a:srgbClr val="64748B"/>
                </a:solidFill>
                <a:latin typeface="Segoe UI"/>
              </a:rPr>
              <a:t>Fully conforms to CIS AWS Foundations Benchmark v3.0 (Rule 2.1.5: S3 Block Public Access).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9_project_detail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MODULE 5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Sub-Second Atomic Rollback Engine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Zero-downtime version switching through immutable S3 prefix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Immutable Prefix Architecture: </a:t>
            </a:r>
            <a:r>
              <a:rPr sz="1300">
                <a:solidFill>
                  <a:srgbClr val="64748B"/>
                </a:solidFill>
                <a:latin typeface="Segoe UI"/>
              </a:rPr>
              <a:t>Every build is archived in an immutable `site-id/deployments/{UUID}/` path, guaranteeing zero destructive overwrites.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Sub-Second Pointer Reassignment: </a:t>
            </a:r>
            <a:r>
              <a:rPr sz="1300">
                <a:solidFill>
                  <a:srgbClr val="64748B"/>
                </a:solidFill>
                <a:latin typeface="Segoe UI"/>
              </a:rPr>
              <a:t>Rollbacks update the relational metadata pointer in &lt; 850 ms without re-uploading files or invalidating entire caches.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Deployment Audit Ledger: </a:t>
            </a:r>
            <a:r>
              <a:rPr sz="1300">
                <a:solidFill>
                  <a:srgbClr val="64748B"/>
                </a:solidFill>
                <a:latin typeface="Segoe UI"/>
              </a:rPr>
              <a:t>Comprehensive history retaining Git SHA tags, file counts, payload sizes, and deployment author timestamps.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00C49F"/>
                </a:solidFill>
                <a:latin typeface="Consolas"/>
              </a:rPr>
              <a:t>│ </a:t>
            </a:r>
            <a:r>
              <a:rPr sz="1300" b="1">
                <a:solidFill>
                  <a:srgbClr val="0F172A"/>
                </a:solidFill>
                <a:latin typeface="Segoe UI"/>
              </a:rPr>
              <a:t>Emergency Failover Safety: </a:t>
            </a:r>
            <a:r>
              <a:rPr sz="1300">
                <a:solidFill>
                  <a:srgbClr val="64748B"/>
                </a:solidFill>
                <a:latin typeface="Segoe UI"/>
              </a:rPr>
              <a:t>Instant one-click rollback restores previous stable production state immediately if a defect is introduced.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1_deployment_history_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PRODUCTION AWS DEPLOYMENT · ZERO-TRUST ARCHITECTURE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Cloud Infrastructure and SRE Engineering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Resilient containerized control plane orchestrating AWS-native edge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C49F"/>
                </a:solidFill>
                <a:latin typeface="Consolas"/>
              </a:rPr>
              <a:t>│ </a:t>
            </a:r>
            <a:r>
              <a:rPr sz="1250" b="1">
                <a:solidFill>
                  <a:srgbClr val="0F172A"/>
                </a:solidFill>
                <a:latin typeface="Segoe UI"/>
              </a:rPr>
              <a:t>Dual-Tier Storage Strategy: </a:t>
            </a:r>
            <a:r>
              <a:rPr sz="1200">
                <a:solidFill>
                  <a:srgbClr val="64748B"/>
                </a:solidFill>
                <a:latin typeface="Segoe UI"/>
              </a:rPr>
              <a:t>High-throughput staging bucket for intake unzipping paired with immutable, versioned production site bucket.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0C49F"/>
                </a:solidFill>
                <a:latin typeface="Consolas"/>
              </a:rPr>
              <a:t>│ </a:t>
            </a:r>
            <a:r>
              <a:rPr sz="1250" b="1">
                <a:solidFill>
                  <a:srgbClr val="0F172A"/>
                </a:solidFill>
                <a:latin typeface="Segoe UI"/>
              </a:rPr>
              <a:t>Edge Cache Optimization: </a:t>
            </a:r>
            <a:r>
              <a:rPr sz="1200">
                <a:solidFill>
                  <a:srgbClr val="64748B"/>
                </a:solidFill>
                <a:latin typeface="Segoe UI"/>
              </a:rPr>
              <a:t>CloudFront distribution with customized cache behaviors, HTTP/3 support, and gzip/brotli auto-compression.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0C49F"/>
                </a:solidFill>
                <a:latin typeface="Consolas"/>
              </a:rPr>
              <a:t>│ </a:t>
            </a:r>
            <a:r>
              <a:rPr sz="1250" b="1">
                <a:solidFill>
                  <a:srgbClr val="0F172A"/>
                </a:solidFill>
                <a:latin typeface="Segoe UI"/>
              </a:rPr>
              <a:t>Containerized Microservices: </a:t>
            </a:r>
            <a:r>
              <a:rPr sz="1200">
                <a:solidFill>
                  <a:srgbClr val="64748B"/>
                </a:solidFill>
                <a:latin typeface="Segoe UI"/>
              </a:rPr>
              <a:t>Docker Compose stack deploying NGINX 1.25+, control plane backend, and React 18 client on AWS compute.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0C49F"/>
                </a:solidFill>
                <a:latin typeface="Consolas"/>
              </a:rPr>
              <a:t>│ </a:t>
            </a:r>
            <a:r>
              <a:rPr sz="1250" b="1">
                <a:solidFill>
                  <a:srgbClr val="0F172A"/>
                </a:solidFill>
                <a:latin typeface="Segoe UI"/>
              </a:rPr>
              <a:t>Operational Observability: </a:t>
            </a:r>
            <a:r>
              <a:rPr sz="1200">
                <a:solidFill>
                  <a:srgbClr val="64748B"/>
                </a:solidFill>
                <a:latin typeface="Segoe UI"/>
              </a:rPr>
              <a:t>Real-time CloudWatch metrics, structured application logging, and automated SNS alerting for failed uploads.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0C49F"/>
                </a:solidFill>
                <a:latin typeface="Consolas"/>
              </a:rPr>
              <a:t>│ </a:t>
            </a:r>
            <a:r>
              <a:rPr sz="1250" b="1">
                <a:solidFill>
                  <a:srgbClr val="0F172A"/>
                </a:solidFill>
                <a:latin typeface="Segoe UI"/>
              </a:rPr>
              <a:t>Cost Teardown Automation: </a:t>
            </a:r>
            <a:r>
              <a:rPr sz="1200">
                <a:solidFill>
                  <a:srgbClr val="64748B"/>
                </a:solidFill>
                <a:latin typeface="Segoe UI"/>
              </a:rPr>
              <a:t>Automated cleanup scripts release idle Elastic IPs and orphaned S3 staging objects to prevent cost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3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LIVE DEMO WORKFLOW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Step-by-Step Platform Walkthrough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From raw static code bundle to global HTTPS CDN deployment in six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12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5269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Platform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Action Executed &amp; System Capability Demonstrated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Sign in via Cognito multi-tenant console or launch instant verified demo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Project Creation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Initialize 'Atelier Portfolio' static site entity with auto-assigned slug and S3 prefix.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Zip Upload &amp; Ingest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Drag-and-drop web archive; streaming unzipper parses and pushes assets directly to S3.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OAC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Inspect CloudFront SigV4 security headers; verify raw S3 bucket direct access is blocked (403).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FinOps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Open FinOps simulator; toggle USD/INR and project bandwidth spend under 1M monthly visits.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C49F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Sub-Second Rollback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Trigger rollback to v2; verify sub-second pointer update (&lt; 850 ms) without re-uploading.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6634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6_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709160"/>
            <a:ext cx="196596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06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Consolas"/>
              </a:defRPr>
            </a:pPr>
            <a:r>
              <a:t>Step 1: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46634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8_projects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1" y="4709160"/>
            <a:ext cx="196596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07791" y="5806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Consolas"/>
              </a:defRPr>
            </a:pPr>
            <a:r>
              <a:t>Step 2: Projects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46634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10_upload_deploy_z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4709160"/>
            <a:ext cx="196596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84064" y="5806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Consolas"/>
              </a:defRPr>
            </a:pPr>
            <a:r>
              <a:t>Step 3: Ingestion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46634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11_deployment_history_roll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4709160"/>
            <a:ext cx="1965960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0336" y="5806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Consolas"/>
              </a:defRPr>
            </a:pPr>
            <a:r>
              <a:t>Step 4: Rollback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46634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3_pricing_finop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28" y="4709160"/>
            <a:ext cx="1965960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36608" y="580644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Consolas"/>
              </a:defRPr>
            </a:pPr>
            <a:r>
              <a:t>Step 5: FinOps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49F"/>
                </a:solidFill>
                <a:latin typeface="Consolas"/>
              </a:defRPr>
            </a:pPr>
            <a:r>
              <a:t>IMPACT, ROADMAP AND VIVA DEFENSE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Business Impact and Technical Defense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Demonstrated engineering metrics and core viva defense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onsolas"/>
              </a:defRPr>
            </a:pPr>
            <a: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645920"/>
          </a:xfrm>
          <a:prstGeom prst="roundRect">
            <a:avLst/>
          </a:prstGeom>
          <a:solidFill>
            <a:srgbClr val="131C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00C49F"/>
                </a:solidFill>
                <a:latin typeface="Segoe UI"/>
              </a:defRPr>
            </a:pPr>
            <a:r>
              <a:t>78%</a:t>
            </a:r>
          </a:p>
          <a:p>
            <a:pPr>
              <a:spcBef>
                <a:spcPts val="200"/>
              </a:spcBef>
              <a:defRPr b="1" sz="1200">
                <a:solidFill>
                  <a:srgbClr val="F8FAFC"/>
                </a:solidFill>
                <a:latin typeface="Segoe UI"/>
              </a:defRPr>
            </a:pPr>
            <a:r>
              <a:t>Hosting Cost Reduction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Versus commercial SaaS platforms by utilizing raw AWS infrastructure pricing without markups.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1645920"/>
          </a:xfrm>
          <a:prstGeom prst="roundRect">
            <a:avLst/>
          </a:prstGeom>
          <a:solidFill>
            <a:srgbClr val="131C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00C49F"/>
                </a:solidFill>
                <a:latin typeface="Segoe UI"/>
              </a:defRPr>
            </a:pPr>
            <a:r>
              <a:t>&lt; 850ms</a:t>
            </a:r>
          </a:p>
          <a:p>
            <a:pPr>
              <a:spcBef>
                <a:spcPts val="200"/>
              </a:spcBef>
              <a:defRPr b="1" sz="1200">
                <a:solidFill>
                  <a:srgbClr val="F8FAFC"/>
                </a:solidFill>
                <a:latin typeface="Segoe UI"/>
              </a:defRPr>
            </a:pPr>
            <a:r>
              <a:t>Atomic Rollback Speed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Achieved by redirecting metadata pointers without modifying or re-uploading S3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74720" cy="1645920"/>
          </a:xfrm>
          <a:prstGeom prst="roundRect">
            <a:avLst/>
          </a:prstGeom>
          <a:solidFill>
            <a:srgbClr val="131C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00C49F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b="1" sz="1200">
                <a:solidFill>
                  <a:srgbClr val="F8FAFC"/>
                </a:solidFill>
                <a:latin typeface="Segoe UI"/>
              </a:defRPr>
            </a:pPr>
            <a:r>
              <a:t>Zero Public S3 Exposure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All origin buckets are private; accessed exclusively via SigV4 signed CloudFront OAC tokens.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F9900"/>
                </a:solidFill>
                <a:latin typeface="Segoe UI"/>
              </a:rPr>
              <a:t>Q1. Why is CloudDeploy an Advanced Cloud Architecture project? </a:t>
            </a:r>
            <a:r>
              <a:rPr sz="1050">
                <a:solidFill>
                  <a:srgbClr val="CBD5E1"/>
                </a:solidFill>
                <a:latin typeface="Segoe UI"/>
              </a:rPr>
              <a:t>It integrates 6 AWS services natively (S3, CloudFront, Cognito, Route 53, CloudWatch, Secrets Manager) with SigV4 Origin Access Control and streaming in-memory pipeline orchestration.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9900"/>
                </a:solidFill>
                <a:latin typeface="Segoe UI"/>
              </a:rPr>
              <a:t>Q2. Why Origin Access Control (OAC) instead of legacy Origin Access Identity (OAI)? </a:t>
            </a:r>
            <a:r>
              <a:rPr sz="1050">
                <a:solidFill>
                  <a:srgbClr val="CBD5E1"/>
                </a:solidFill>
                <a:latin typeface="Segoe UI"/>
              </a:rPr>
              <a:t>OAC supports AWS Signature Version 4 (SigV4), all S3 buckets in all AWS regions, server-side encryption with AWS KMS (SSE-KMS), and dynamic policy permissions that OAI lacks.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9900"/>
                </a:solidFill>
                <a:latin typeface="Segoe UI"/>
              </a:rPr>
              <a:t>Q3. How do atomic rollbacks complete in under 850 milliseconds? </a:t>
            </a:r>
            <a:r>
              <a:rPr sz="1050">
                <a:solidFill>
                  <a:srgbClr val="CBD5E1"/>
                </a:solidFill>
                <a:latin typeface="Segoe UI"/>
              </a:rPr>
              <a:t>Builds are stored in immutable prefix folders (`site-id/deployments/{UUID}/`). Rolling back only modifies the database active pointer record; zero files are transferred or re-uploaded.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49F"/>
                </a:solidFill>
                <a:latin typeface="Consolas"/>
              </a:defRPr>
            </a:pPr>
            <a:r>
              <a:t>CLOUDDEPLOY · AWS-NATIVE MULTI-TENANT STATIC PLATFORM</a:t>
            </a:r>
          </a:p>
          <a:p>
            <a:pPr>
              <a:spcBef>
                <a:spcPts val="800"/>
              </a:spcBef>
              <a:defRPr sz="64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Segoe UI"/>
              </a:defRPr>
            </a:pPr>
            <a:r>
              <a:t>Questions, viva defense &amp; architectural discussion welcome.</a:t>
            </a:r>
          </a:p>
          <a:p>
            <a:pPr>
              <a:spcBef>
                <a:spcPts val="32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Itishree Nayak (240714100014) · Akriti Mishra (240714100019) · Soumya Ranjan Rout (240714100069)</a:t>
            </a:r>
            <a:br/>
            <a:r>
              <a:t>Atyusha Mohanty (240714100073) · Santanu Barik (240714100076) · K Sohan Patro (240714100111)</a:t>
            </a:r>
            <a:br/>
            <a:r>
              <a:t>Department of Computer Applications · Centurion University of Technology and Management, Odisha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00C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CloudDeploy · AWS ap-south-1 (Mumbai)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onsolas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